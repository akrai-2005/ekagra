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B6B63"/>
            </a:solidFill>
          </c:spPr>
          <c:dPt>
            <c:idx val="0"/>
            <c:spPr>
              <a:solidFill>
                <a:srgbClr val="A3341F"/>
              </a:solidFill>
            </c:spPr>
          </c:dPt>
          <c:cat>
            <c:strRef>
              <c:f>Sheet1!$A$2:$A$3</c:f>
              <c:strCache>
                <c:ptCount val="2"/>
                <c:pt idx="0">
                  <c:v>Conventional IDS,
put behind the tap</c:v>
                </c:pt>
                <c:pt idx="1">
                  <c:v>EKAGRA,
built for the tap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0.6903</c:v>
                </c:pt>
                <c:pt idx="1">
                  <c:v>0.981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 b="1">
                  <a:solidFill>
                    <a:srgbClr val="1419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1419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B6B63"/>
            </a:solidFill>
          </c:spPr>
          <c:dPt>
            <c:idx val="0"/>
            <c:spPr>
              <a:solidFill>
                <a:srgbClr val="A3341F"/>
              </a:solidFill>
            </c:spPr>
          </c:dPt>
          <c:cat>
            <c:strRef>
              <c:f>Sheet1!$A$2:$A$5</c:f>
              <c:strCache>
                <c:ptCount val="4"/>
                <c:pt idx="0">
                  <c:v>D  host-window ONLY (control)</c:v>
                </c:pt>
                <c:pt idx="1">
                  <c:v>C  purpose-built sensor</c:v>
                </c:pt>
                <c:pt idx="2">
                  <c:v>B  deployed on one-way tap</c:v>
                </c:pt>
                <c:pt idx="3">
                  <c:v>A  full visibility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0.9812</c:v>
                </c:pt>
                <c:pt idx="1">
                  <c:v>0.981</c:v>
                </c:pt>
                <c:pt idx="2">
                  <c:v>0.6903</c:v>
                </c:pt>
                <c:pt idx="3">
                  <c:v>0.9793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 b="1">
                  <a:solidFill>
                    <a:srgbClr val="1419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1419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zenodo.org/records/22016274" TargetMode="External"/><Relationship Id="rId5" Type="http://schemas.openxmlformats.org/officeDocument/2006/relationships/hyperlink" Target="https://www.unb.ca/cic/datasets/ids-2017.html" TargetMode="External"/><Relationship Id="rId6" Type="http://schemas.openxmlformats.org/officeDocument/2006/relationships/hyperlink" Target="https://doi.org/10.1109/SPW53761.2021.00009" TargetMode="External"/><Relationship Id="rId7" Type="http://schemas.openxmlformats.org/officeDocument/2006/relationships/hyperlink" Target="https://github.com/AKRai-2005/ekagra" TargetMode="External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t/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148840"/>
            <a:ext cx="5486400" cy="4206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1918"/>
                </a:solidFill>
                <a:latin typeface="Calibri"/>
              </a:rPr>
              <a:t>Problem Statement ID  -  SIH26145</a:t>
            </a:r>
            <a:endParaRPr lang="en-US" dirty="0"/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41918"/>
                </a:solidFill>
                <a:latin typeface="Calibri"/>
              </a:rPr>
              <a:t>AI-Based Detection of Cyber Threats in Unidirectional IP Traffic</a:t>
            </a:r>
          </a:p>
          <a:p>
            <a:pPr algn="l"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605D"/>
                </a:solidFill>
                <a:latin typeface="Calibri"/>
              </a:rPr>
              <a:t>Organisation  -  National Technical Research Organisation (NTRO)</a:t>
            </a:r>
          </a:p>
          <a:p>
            <a:pPr algn="l"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605D"/>
                </a:solidFill>
                <a:latin typeface="Calibri"/>
              </a:rPr>
              <a:t>Theme  -  Blockchain &amp; Cybersecurity</a:t>
            </a:r>
          </a:p>
          <a:p>
            <a:pPr algn="l"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605D"/>
                </a:solidFill>
                <a:latin typeface="Calibri"/>
              </a:rPr>
              <a:t>PS Category  -  Software</a:t>
            </a:r>
          </a:p>
          <a:p>
            <a:pPr algn="l"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605D"/>
                </a:solidFill>
                <a:latin typeface="Calibri"/>
              </a:rPr>
              <a:t>Team ID  -  [TEAM ID]</a:t>
            </a:r>
          </a:p>
          <a:p>
            <a:pPr algn="l"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605D"/>
                </a:solidFill>
                <a:latin typeface="Calibri"/>
              </a:rPr>
              <a:t>Team Name  -  AlgoRhythms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EKAGRA  -  detection that survives a one-way tap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170432"/>
            <a:ext cx="10972800" cy="566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300" b="0">
                <a:solidFill>
                  <a:srgbClr val="141918"/>
                </a:solidFill>
                <a:latin typeface="Calibri"/>
              </a:rPr>
              <a:t>A read-only sensor for a data diode. It keeps 60-second per-host state, so it detects threats from ONE direction of traffic - with no return path, no threat-intel lookup, and no payload decryption.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/>
              <a:t>AlgoRhythms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612648" y="1810512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6B63"/>
                </a:solidFill>
                <a:latin typeface="Calibri"/>
              </a:rPr>
              <a:t>WHY EXISTING SOLUTIONS CANNOT BE DEPLOYED HERE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2648" y="2103120"/>
            <a:ext cx="1806511" cy="310896"/>
          </a:xfrm>
          <a:prstGeom prst="round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2455735" y="2103120"/>
            <a:ext cx="1977961" cy="310896"/>
          </a:xfrm>
          <a:prstGeom prst="round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What it requires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470273" y="2103120"/>
            <a:ext cx="2963799" cy="310896"/>
          </a:xfrm>
          <a:prstGeom prst="round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Why it fails behind a diode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12648" y="2459735"/>
            <a:ext cx="180651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141918"/>
                </a:solidFill>
                <a:latin typeface="Calibri"/>
              </a:rPr>
              <a:t>Suricata / Zeek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2455735" y="2459735"/>
            <a:ext cx="197796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signature feeds, both
directions of a flow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470273" y="2459735"/>
            <a:ext cx="2963799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the rule-update path IS an
egress path the diode forbids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612648" y="2962655"/>
            <a:ext cx="180651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141918"/>
                </a:solidFill>
                <a:latin typeface="Calibri"/>
              </a:rPr>
              <a:t>Darktrace / Vectra
(commercial NDR)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2455735" y="2962655"/>
            <a:ext cx="197796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cloud analytics,
$8-22 per IP per year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470273" y="2962655"/>
            <a:ext cx="2963799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foreign SaaS callback, recurring
licence, telemetry leaves India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12648" y="3465575"/>
            <a:ext cx="180651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141918"/>
                </a:solidFill>
                <a:latin typeface="Calibri"/>
              </a:rPr>
              <a:t>Owl / Waterfall
(diode vendors)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2455735" y="3465575"/>
            <a:ext cx="197796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hardware one-way link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470273" y="3465575"/>
            <a:ext cx="2963799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they move data one way -
they do not detect threats in it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612648" y="3968495"/>
            <a:ext cx="1806511" cy="457200"/>
          </a:xfrm>
          <a:prstGeom prst="round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141918"/>
                </a:solidFill>
                <a:latin typeface="Calibri"/>
              </a:rPr>
              <a:t>EKAGRA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2455735" y="3968495"/>
            <a:ext cx="1977961" cy="457200"/>
          </a:xfrm>
          <a:prstGeom prst="round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141918"/>
                </a:solidFill>
                <a:latin typeface="Calibri"/>
              </a:rPr>
              <a:t>a one-way tap.
Nothing else.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470273" y="3968495"/>
            <a:ext cx="2963799" cy="457200"/>
          </a:xfrm>
          <a:prstGeom prst="roundRect">
            <a:avLst/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141918"/>
                </a:solidFill>
                <a:latin typeface="Calibri"/>
              </a:rPr>
              <a:t>purpose-built for the constraint:
0.981 F1, zero licence, air-gapped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7726679" y="1810512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6B63"/>
                </a:solidFill>
                <a:latin typeface="Calibri"/>
              </a:rPr>
              <a:t>MEASURED  ·  CIC-IDS2017  ·  877,801 REAL FLOWS</a:t>
            </a:r>
          </a:p>
        </p:txBody>
      </p:sp>
      <p:graphicFrame>
        <p:nvGraphicFramePr>
          <p:cNvPr id="15380" name="Chart 15379"/>
          <p:cNvGraphicFramePr>
            <a:graphicFrameLocks noGrp="1"/>
          </p:cNvGraphicFramePr>
          <p:nvPr/>
        </p:nvGraphicFramePr>
        <p:xfrm>
          <a:off x="7452360" y="2084831"/>
          <a:ext cx="4343400" cy="1783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381" name="TextBox 15380"/>
          <p:cNvSpPr txBox="1"/>
          <p:nvPr/>
        </p:nvSpPr>
        <p:spPr>
          <a:xfrm>
            <a:off x="7726679" y="3913632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05D"/>
                </a:solidFill>
                <a:latin typeface="Calibri"/>
              </a:rPr>
              <a:t>Same traffic, same temporal split. The gap is not lost direction - it is lost per-host state, and that is recoverable.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612648" y="4553712"/>
            <a:ext cx="2651760" cy="1024128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612648" y="4608576"/>
            <a:ext cx="2651760" cy="102412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0B6B63"/>
                </a:solidFill>
                <a:latin typeface="Calibri"/>
              </a:rPr>
              <a:t>0.9810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binary-F1 on a one-way tap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877,801 real flows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3410712" y="4553712"/>
            <a:ext cx="2651760" cy="1024128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3410712" y="4608576"/>
            <a:ext cx="2651760" cy="102412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0B6B63"/>
                </a:solidFill>
                <a:latin typeface="Calibri"/>
              </a:rPr>
              <a:t>Rs 0 / year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licence cost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vs Rs 13-37 lakh for NDR at 2,000 IPs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6208776" y="4553712"/>
            <a:ext cx="2651760" cy="1024128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6208776" y="4608576"/>
            <a:ext cx="2651760" cy="102412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0B6B63"/>
                </a:solidFill>
                <a:latin typeface="Calibri"/>
              </a:rPr>
              <a:t>672 Mbps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measured throughput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not the 1 Gbps we first claimed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9006840" y="4553712"/>
            <a:ext cx="2651760" cy="1024128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9006840" y="4608576"/>
            <a:ext cx="2651760" cy="102412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0B6B63"/>
                </a:solidFill>
                <a:latin typeface="Calibri"/>
              </a:rPr>
              <a:t>17 / 42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own predictions refuted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verdicts printed by the run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612648" y="56875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5D"/>
                </a:solidFill>
                <a:latin typeface="Calibri"/>
              </a:rPr>
              <a:t>Uniqueness: not another classifier. We measured what a one-way tap can actually observe, built a sensor to that profile, and ship every claim with the control that narrows it - including the ones that cost 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1097280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141918"/>
                </a:solidFill>
                <a:latin typeface="Calibri"/>
              </a:rPr>
              <a:t>Stack  -  Python 3.12, XGBoost, scikit-learn, NumPy/Pandas, SciPy, cryptography, pytest. No neural network and no external service in the detection path, by design.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/>
              <a:t>AlgoRhythms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1828800"/>
            <a:ext cx="2029968" cy="868680"/>
          </a:xfrm>
          <a:prstGeom prst="round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41918"/>
                </a:solidFill>
                <a:latin typeface="Calibri"/>
              </a:rPr>
              <a:t>Packets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2648" y="2761488"/>
            <a:ext cx="20299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5D"/>
                </a:solidFill>
                <a:latin typeface="Calibri"/>
              </a:rPr>
              <a:t>one-way tap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660904" y="2084831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0BAB7"/>
                </a:solidFill>
                <a:latin typeface="Calibri"/>
              </a:rPr>
              <a:t>&gt;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898648" y="1828800"/>
            <a:ext cx="2029968" cy="868680"/>
          </a:xfrm>
          <a:prstGeom prst="round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Flow
assembler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898648" y="2761488"/>
            <a:ext cx="20299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5D"/>
                </a:solidFill>
                <a:latin typeface="Calibri"/>
              </a:rPr>
              <a:t>idle 15s / active 120s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946904" y="2084831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0BAB7"/>
                </a:solidFill>
                <a:latin typeface="Calibri"/>
              </a:rPr>
              <a:t>&gt;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184648" y="1828800"/>
            <a:ext cx="2029968" cy="868680"/>
          </a:xfrm>
          <a:prstGeom prst="roundRect">
            <a:avLst/>
          </a:prstGeom>
          <a:solidFill>
            <a:srgbClr val="0B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Streaming
host-window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184648" y="2761488"/>
            <a:ext cx="20299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5D"/>
                </a:solidFill>
                <a:latin typeface="Calibri"/>
              </a:rPr>
              <a:t>HLL, Count-Min,
Misra-Gries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232904" y="2084831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0BAB7"/>
                </a:solidFill>
                <a:latin typeface="Calibri"/>
              </a:rPr>
              <a:t>&gt;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470648" y="1828800"/>
            <a:ext cx="2029968" cy="868680"/>
          </a:xfrm>
          <a:prstGeom prst="round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41918"/>
                </a:solidFill>
                <a:latin typeface="Calibri"/>
              </a:rPr>
              <a:t>Detector
heads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470648" y="2761488"/>
            <a:ext cx="20299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5D"/>
                </a:solidFill>
                <a:latin typeface="Calibri"/>
              </a:rPr>
              <a:t>6 threat classes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518904" y="2084831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0BAB7"/>
                </a:solidFill>
                <a:latin typeface="Calibri"/>
              </a:rPr>
              <a:t>&gt;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756648" y="1828800"/>
            <a:ext cx="2029968" cy="868680"/>
          </a:xfrm>
          <a:prstGeom prst="roundRect">
            <a:avLst/>
          </a:prstGeom>
          <a:solidFill>
            <a:srgbClr val="EE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41918"/>
                </a:solidFill>
                <a:latin typeface="Calibri"/>
              </a:rPr>
              <a:t>Calibration
+ evidence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9756648" y="2761488"/>
            <a:ext cx="20299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5D"/>
                </a:solidFill>
                <a:latin typeface="Calibri"/>
              </a:rPr>
              <a:t>abstain, hash-chained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12648" y="3291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5D"/>
                </a:solidFill>
                <a:latin typeface="Calibri"/>
              </a:rPr>
              <a:t>One-way data flow. No component downstream of ingest can call anything upstream.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12648" y="3657600"/>
            <a:ext cx="109728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0B6B63"/>
                </a:solidFill>
                <a:latin typeface="Calibri"/>
              </a:rPr>
              <a:t>Streaming, not batch  -  as the problem statement requires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41918"/>
                </a:solidFill>
                <a:latin typeface="Calibri"/>
              </a:rPr>
              <a:t>Single pass, bounded memory: 225,907 flows/s, 2.58 MB of state for 14,817 hosts, 75 s end-to-end latency (60 s window + 15 s lateness budget).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41918"/>
                </a:solidFill>
                <a:latin typeface="Calibri"/>
              </a:rPr>
              <a:t>Estimators start exact and promote to sketches only above 256 distinct values, so 14 of 16 features are bitwise identical to an exact batch computation.</a:t>
            </a:r>
          </a:p>
          <a:p>
            <a:pPr algn="l">
              <a:spcBef>
                <a:spcPts val="800"/>
              </a:spcBef>
              <a:spcAft>
                <a:spcPts val="700"/>
              </a:spcAft>
            </a:pPr>
            <a:r>
              <a:rPr sz="1400" b="1">
                <a:solidFill>
                  <a:srgbClr val="0B6B63"/>
                </a:solidFill>
                <a:latin typeface="Calibri"/>
              </a:rPr>
              <a:t>Read-only enforced, not asserted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41918"/>
                </a:solidFill>
                <a:latin typeface="Calibri"/>
              </a:rPr>
              <a:t>A CI test fails the build if anything in the detection path opens a socket. Sharded across processes by host: 2.70x to 119,918 packets/s (672 Mbps).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70432"/>
            <a:ext cx="10972800" cy="548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 b="0">
                <a:solidFill>
                  <a:srgbClr val="141918"/>
                </a:solidFill>
                <a:latin typeface="Calibri"/>
              </a:rPr>
              <a:t>Built and measured, not proposed  -  288 tests, one-command reproduction, on generated traffic, the corrected CIC-IDS2017 re-extraction (Zenodo 22016274), and a live capture from an ordinary laptop.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/>
              <a:t>AlgoRhythms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1773936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A3341F"/>
                </a:solidFill>
                <a:latin typeface="Calibri"/>
              </a:rPr>
              <a:t>THE CONTROL THAT NARROWED OUR OWN HEADLINE</a:t>
            </a:r>
          </a:p>
        </p:txBody>
      </p:sp>
      <p:graphicFrame>
        <p:nvGraphicFramePr>
          <p:cNvPr id="17412" name="Chart 17411"/>
          <p:cNvGraphicFramePr>
            <a:graphicFrameLocks noGrp="1"/>
          </p:cNvGraphicFramePr>
          <p:nvPr/>
        </p:nvGraphicFramePr>
        <p:xfrm>
          <a:off x="411480" y="2029968"/>
          <a:ext cx="6309360" cy="2148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612648" y="4261104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41918"/>
                </a:solidFill>
                <a:latin typeface="Calibri"/>
              </a:rPr>
              <a:t>Those 16 host-window features alone score 0.9812 - level with full visibility. On this corpus the visibility question largely dissolves, so we narrowed the claim instead of defending it. A stress test then showed the reverse at low attack density: keep host state, never run on it alone.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12648" y="5230368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05D"/>
                </a:solidFill>
                <a:latin typeface="Calibri"/>
              </a:rPr>
              <a:t>Method: predictions are written into each experiment before it runs and the run prints the verdict. 17 of 42 were refuted - our headline among them.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903720" y="177393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6B63"/>
                </a:solidFill>
                <a:latin typeface="Calibri"/>
              </a:rPr>
              <a:t>RISKS WE CAN NAME, WITH MITIGATIONS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903720" y="2048256"/>
            <a:ext cx="4754880" cy="1298448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086600" y="2139696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6B63"/>
                </a:solidFill>
                <a:latin typeface="Calibri"/>
              </a:rPr>
              <a:t>Throughput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7086600" y="2395728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1918"/>
                </a:solidFill>
                <a:latin typeface="Calibri"/>
              </a:rPr>
              <a:t>672 Mbps measured, not 1 Gbps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086600" y="2651760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5D"/>
                </a:solidFill>
                <a:latin typeface="Calibri"/>
              </a:rPr>
              <a:t>Per-shard ceiling is ~880k pkt/s; the gap is coordination. Kernel RSS / AF_PACKET fanout removes it.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903720" y="3438144"/>
            <a:ext cx="4754880" cy="1298448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086600" y="3529584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6B63"/>
                </a:solidFill>
                <a:latin typeface="Calibri"/>
              </a:rPr>
              <a:t>Corpus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086600" y="3785616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1918"/>
                </a:solidFill>
                <a:latin typeface="Calibri"/>
              </a:rPr>
              <a:t>CIC-IDS2017 attacks are bursty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7086600" y="4041648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5D"/>
                </a:solidFill>
                <a:latin typeface="Calibri"/>
              </a:rPr>
              <a:t>Re-timed so attacks share cells with benign traffic: the one-way tap result holds, host-window-alone does not.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903720" y="4828032"/>
            <a:ext cx="4754880" cy="1298448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086600" y="4919472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B6B63"/>
                </a:solidFill>
                <a:latin typeface="Calibri"/>
              </a:rPr>
              <a:t>Encrypted web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086600" y="517550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1918"/>
                </a:solidFill>
                <a:latin typeface="Calibri"/>
              </a:rPr>
              <a:t>we called QUIC a hard ceiling - we were wrong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086600" y="5431536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5D"/>
                </a:solidFill>
                <a:latin typeface="Calibri"/>
              </a:rPr>
              <a:t>UDP/443 beat TCP/443 80,291 to 32,069 in our own capture. QUIC Initial keys derive from the connection ID in the clear (RFC 9001), so we read those handshakes. 1-RTT payload stays out of reach.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70432"/>
            <a:ext cx="10972800" cy="548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 b="0">
                <a:solidFill>
                  <a:srgbClr val="141918"/>
                </a:solidFill>
                <a:latin typeface="Calibri"/>
              </a:rPr>
              <a:t>Beneficiaries  -  NTRO and NCIIPC-designated Critical Information Infrastructure: defence, power grid, banking, telecom and any enclave already behind a data diode.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/>
              <a:t>AlgoRhythms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1792224"/>
            <a:ext cx="3566160" cy="1060704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12648" y="1847088"/>
            <a:ext cx="3566160" cy="1060704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2100" b="1">
                <a:solidFill>
                  <a:srgbClr val="0B6B63"/>
                </a:solidFill>
                <a:latin typeface="Calibri"/>
              </a:rPr>
              <a:t>Rs 13-37 lakh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recurring licence avoided, per enclave, per year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NDR at $8-22 per protected IP (Vectra published metric), 2,000 IPs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61688" y="1792224"/>
            <a:ext cx="3566160" cy="1060704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361688" y="1847088"/>
            <a:ext cx="3566160" cy="1060704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2100" b="1">
                <a:solidFill>
                  <a:srgbClr val="0B6B63"/>
                </a:solidFill>
                <a:latin typeface="Calibri"/>
              </a:rPr>
              <a:t>29.44 lakh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cyber incidents CERT-In handled in 2025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up 85% since 2023 - the volume this must scale into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10727" y="1792224"/>
            <a:ext cx="3566160" cy="1060704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110727" y="1847088"/>
            <a:ext cx="3566160" cy="1060704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2100" b="1">
                <a:solidFill>
                  <a:srgbClr val="0B6B63"/>
                </a:solidFill>
                <a:latin typeface="Calibri"/>
              </a:rPr>
              <a:t>0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outbound connections in the detection path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CI-enforced: the build fails if anything opens a socket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2648" y="3072384"/>
            <a:ext cx="5349240" cy="1444752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13816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6B63"/>
                </a:solidFill>
                <a:latin typeface="Calibri"/>
              </a:rPr>
              <a:t>Economic  -  removes a licence AND an egress path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13816" y="3529584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918"/>
                </a:solidFill>
                <a:latin typeface="Calibri"/>
              </a:rPr>
              <a:t>A threat-intel callback is itself a hole in the diode. We measured a 55%-recall IP-reputation feed as net negative (0.926 to 0.971 without it): removing it improved detection and closed the path.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36208" y="3072384"/>
            <a:ext cx="5349240" cy="1444752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437376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6B63"/>
                </a:solidFill>
                <a:latin typeface="Calibri"/>
              </a:rPr>
              <a:t>Sovereign by construction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437376" y="3529584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918"/>
                </a:solidFill>
                <a:latin typeface="Calibri"/>
              </a:rPr>
              <a:t>No foreign SaaS anywhere in the detection path and no telemetry leaving India - a Critical Information Infrastructure requirement, not a preference. Atmanirbhar Bharat, Digital India.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2648" y="4645152"/>
            <a:ext cx="5349240" cy="1444752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13816" y="4773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6B63"/>
                </a:solidFill>
                <a:latin typeface="Calibri"/>
              </a:rPr>
              <a:t>Operationally honest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13816" y="5102352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918"/>
                </a:solidFill>
                <a:latin typeface="Calibri"/>
              </a:rPr>
              <a:t>Conformal abstention: the sensor says 'I do not know' at a calibrated rate instead of guessing. Every alert carries hash-chained, tamper-evident evidence an auditor can verify offline.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36208" y="4645152"/>
            <a:ext cx="5349240" cy="1444752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437376" y="4773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B6B63"/>
                </a:solidFill>
                <a:latin typeface="Calibri"/>
              </a:rPr>
              <a:t>Transferable  -  one core, two problem statements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37376" y="5102352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918"/>
                </a:solidFill>
                <a:latin typeface="Calibri"/>
              </a:rPr>
              <a:t>The same engineering core serves SIH26153. The visibility-profile procedure generalises to any sensor placement: characterise what the tap can observe, then train under that. SDG 9 and SDG 16.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10972800" cy="406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50" b="1">
                <a:solidFill>
                  <a:srgbClr val="0B6B63"/>
                </a:solidFill>
                <a:latin typeface="Calibri"/>
              </a:rPr>
              <a:t>Datasets  -  addresses printed below, and scannable at the foot of this slide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41918"/>
                </a:solidFill>
                <a:latin typeface="Calibri"/>
              </a:rPr>
              <a:t>Huang, Bois &amp; Marchioro - Corrected CICFlowMeter Datasets: CIC-IDS 2017. Zenodo 22016274 (CC-BY-4.0). 877,801 flows, the corpus every measured number on these slides comes from. Chosen over the original CSVs, which have documented label and feature-extractor defects.</a:t>
            </a:r>
            <a:r>
              <a:rPr sz="1050" b="0" u="sng">
                <a:solidFill>
                  <a:srgbClr val="0B6B63"/>
                </a:solidFill>
                <a:latin typeface="Calibri"/>
                <a:hlinkClick r:id="rId4"/>
              </a:rPr>
              <a:t>  zenodo.org/records/22016274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41918"/>
                </a:solidFill>
                <a:latin typeface="Calibri"/>
              </a:rPr>
              <a:t>Source corpus it re-extracts - CIC-IDS2017, Canadian Institute for Cybersecurity, University of New Brunswick.</a:t>
            </a:r>
            <a:r>
              <a:rPr sz="1050" b="0" u="sng">
                <a:solidFill>
                  <a:srgbClr val="0B6B63"/>
                </a:solidFill>
                <a:latin typeface="Calibri"/>
                <a:hlinkClick r:id="rId5"/>
              </a:rPr>
              <a:t>  unb.ca/cic/datasets/ids-2017.html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41918"/>
                </a:solidFill>
                <a:latin typeface="Calibri"/>
              </a:rPr>
              <a:t>Engelen, Rimmer &amp; Joosen - Troubleshooting an Intrusion Detection Dataset: the CICIDS2017 case study. IEEE S&amp;P Workshops, 2021. Why we use the corrected re-extraction.</a:t>
            </a:r>
            <a:r>
              <a:rPr sz="1050" b="0" u="sng">
                <a:solidFill>
                  <a:srgbClr val="0B6B63"/>
                </a:solidFill>
                <a:latin typeface="Calibri"/>
                <a:hlinkClick r:id="rId6"/>
              </a:rPr>
              <a:t>  doi.org/10.1109/SPW53761.2021.00009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41918"/>
                </a:solidFill>
                <a:latin typeface="Calibri"/>
              </a:rPr>
              <a:t>Our own capture - 147 MB, 6 minutes of ordinary browsing, 148,416 packets. Not redistributable (personal traffic); the TLS, JA4 and QUIC findings come from it and reproduce on any capture.</a:t>
            </a:r>
          </a:p>
          <a:p>
            <a:pPr algn="l">
              <a:spcBef>
                <a:spcPts val="800"/>
              </a:spcBef>
              <a:spcAft>
                <a:spcPts val="450"/>
              </a:spcAft>
            </a:pPr>
            <a:r>
              <a:rPr sz="1350" b="1">
                <a:solidFill>
                  <a:srgbClr val="0B6B63"/>
                </a:solidFill>
                <a:latin typeface="Calibri"/>
              </a:rPr>
              <a:t>Method and prior art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41918"/>
                </a:solidFill>
                <a:latin typeface="Calibri"/>
              </a:rPr>
              <a:t>Network Intrusion Datasets: A Survey, Limitations and Recommendations - arXiv:2502.06688.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41918"/>
                </a:solidFill>
                <a:latin typeface="Calibri"/>
              </a:rPr>
              <a:t>Using JA4+ Fingerprints for Malware Detection in Encrypted Traffic - CNSM 2024. Basis for detecting malware in TLS from metadata alone, with no decryption.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41918"/>
                </a:solidFill>
                <a:latin typeface="Calibri"/>
              </a:rPr>
              <a:t>MITRE ATT&amp;CK for threat-stage mapping; NIST SP 800-53 and CIS Benchmarks for control alignment. RFC 9001 (QUIC-TLS) and RFC 8701 (GREASE) for the encrypted-traffic path.</a:t>
            </a:r>
          </a:p>
          <a:p>
            <a:pPr algn="l">
              <a:spcBef>
                <a:spcPts val="800"/>
              </a:spcBef>
              <a:spcAft>
                <a:spcPts val="450"/>
              </a:spcAft>
            </a:pPr>
            <a:r>
              <a:rPr sz="1350" b="1">
                <a:solidFill>
                  <a:srgbClr val="0B6B63"/>
                </a:solidFill>
                <a:latin typeface="Calibri"/>
              </a:rPr>
              <a:t>Scale and market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41918"/>
                </a:solidFill>
                <a:latin typeface="Calibri"/>
              </a:rPr>
              <a:t>CERT-In / PIB: 29.44 lakh incidents handled in 2025, up 85% on 2023; 9,700+ audits in 2024-25. MarketsandMarkets: NDR $3.68B (2025) to $5.82B (2030); data-diode and unidirectional-gateway market $0.56B (2026) to $0.77B (2031).</a:t>
            </a:r>
          </a:p>
          <a:p>
            <a:pPr algn="l">
              <a:spcBef>
                <a:spcPts val="800"/>
              </a:spcBef>
              <a:spcAft>
                <a:spcPts val="450"/>
              </a:spcAft>
            </a:pPr>
            <a:r>
              <a:rPr sz="1350" b="1">
                <a:solidFill>
                  <a:srgbClr val="0B6B63"/>
                </a:solidFill>
                <a:latin typeface="Calibri"/>
              </a:rPr>
              <a:t>Our work</a:t>
            </a:r>
          </a:p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>
                <a:solidFill>
                  <a:srgbClr val="141918"/>
                </a:solidFill>
                <a:latin typeface="Calibri"/>
              </a:rPr>
              <a:t>Repository with all experiments, pre-registered predictions and verdicts, and one-command reproduction:</a:t>
            </a:r>
            <a:r>
              <a:rPr sz="1050" b="0" u="sng">
                <a:solidFill>
                  <a:srgbClr val="0B6B63"/>
                </a:solidFill>
                <a:latin typeface="Calibri"/>
                <a:hlinkClick r:id="rId7"/>
              </a:rPr>
              <a:t>  github.com/AKRai-2005/ekagra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/>
              <a:t>AlgoRhythms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5340096"/>
            <a:ext cx="10972800" cy="960120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536752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0B6B63"/>
                </a:solidFill>
                <a:latin typeface="Calibri"/>
              </a:rPr>
              <a:t>SCAN OR TYPE  -  the datasets, reachable from any device</a:t>
            </a:r>
          </a:p>
        </p:txBody>
      </p:sp>
      <p:pic>
        <p:nvPicPr>
          <p:cNvPr id="17413" name="Picture 17412" descr="qr_3c73e79a85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541264"/>
            <a:ext cx="713232" cy="71323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536192" y="55778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1918"/>
                </a:solidFill>
                <a:latin typeface="Calibri"/>
              </a:rPr>
              <a:t>Corrected CIC-IDS2017 (the one we used)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536192" y="579729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605D"/>
                </a:solidFill>
                <a:latin typeface="Calibri"/>
              </a:rPr>
              <a:t>zenodo.org/records/22016274</a:t>
            </a:r>
          </a:p>
        </p:txBody>
      </p:sp>
      <p:pic>
        <p:nvPicPr>
          <p:cNvPr id="17416" name="Picture 17415" descr="qr_bee78d23fcf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3400" y="5541264"/>
            <a:ext cx="713232" cy="713232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5148072" y="55778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1918"/>
                </a:solidFill>
                <a:latin typeface="Calibri"/>
              </a:rPr>
              <a:t>Original CIC-IDS2017 (UNB CIC)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148072" y="579729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605D"/>
                </a:solidFill>
                <a:latin typeface="Calibri"/>
              </a:rPr>
              <a:t>unb.ca/cic/datasets/ids-2017.html</a:t>
            </a:r>
          </a:p>
        </p:txBody>
      </p:sp>
      <p:pic>
        <p:nvPicPr>
          <p:cNvPr id="17419" name="Picture 17418" descr="qr_6d353197691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5541264"/>
            <a:ext cx="713232" cy="71323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8759952" y="55778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1918"/>
                </a:solidFill>
                <a:latin typeface="Calibri"/>
              </a:rPr>
              <a:t>Why the corrected one (Engelen 2021)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759952" y="579729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605D"/>
                </a:solidFill>
                <a:latin typeface="Calibri"/>
              </a:rPr>
              <a:t>doi.org/10.1109/SPW53761.2021.00009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